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0F2A54"/>
          </a:solidFill>
          <a:ln w="12700">
            <a:solidFill>
              <a:srgbClr val="0F2A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0" y="0"/>
            <a:ext cx="109728" cy="68580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38928" y="0"/>
            <a:ext cx="7022592" cy="685800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31520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PROJECT REPORT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3291840" cy="54864"/>
          </a:xfrm>
          <a:prstGeom prst="rect">
            <a:avLst/>
          </a:prstGeom>
          <a:solidFill>
            <a:srgbClr val="14A1A6"/>
          </a:solidFill>
          <a:ln w="12700">
            <a:solidFill>
              <a:srgbClr val="14A1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459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/ B.E. AI &amp; Data Science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1945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AIML-B 2026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200400"/>
            <a:ext cx="1097280" cy="5943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20040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700K+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645920" y="331012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</a:rPr>
              <a:t>Claim Records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4114800"/>
            <a:ext cx="1097280" cy="5943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11480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&gt;0.90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45920" y="422452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</a:rPr>
              <a:t>AUC-ROC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5029200"/>
            <a:ext cx="1097280" cy="5943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502920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57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45920" y="513892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</a:rPr>
              <a:t>Features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0" y="914400"/>
            <a:ext cx="64008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0F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</a:t>
            </a:r>
            <a:endParaRPr lang="en-US" sz="3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0F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Fraud</a:t>
            </a:r>
            <a:endParaRPr lang="en-US" sz="3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0F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System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5486400" y="342900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Ensemble Machine Learning &amp;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 (SHAP)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0" y="4572000"/>
            <a:ext cx="1371600" cy="411480"/>
          </a:xfrm>
          <a:prstGeom prst="rect">
            <a:avLst/>
          </a:prstGeom>
          <a:solidFill>
            <a:srgbClr val="0F2A54"/>
          </a:solidFill>
          <a:ln w="12700">
            <a:solidFill>
              <a:srgbClr val="0F2A5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0" y="457200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Dataset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858000" y="4572000"/>
            <a:ext cx="5029200" cy="4114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49440" y="457200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CMS Medicare (Kaggle)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0" y="5166360"/>
            <a:ext cx="1371600" cy="411480"/>
          </a:xfrm>
          <a:prstGeom prst="rect">
            <a:avLst/>
          </a:prstGeom>
          <a:solidFill>
            <a:srgbClr val="0F2A54"/>
          </a:solidFill>
          <a:ln w="12700">
            <a:solidFill>
              <a:srgbClr val="0F2A5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0" y="51663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Environment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858000" y="5166360"/>
            <a:ext cx="5029200" cy="4114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49440" y="516636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Google Colab + VS Code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0" y="5760720"/>
            <a:ext cx="1371600" cy="411480"/>
          </a:xfrm>
          <a:prstGeom prst="rect">
            <a:avLst/>
          </a:prstGeom>
          <a:solidFill>
            <a:srgbClr val="0F2A54"/>
          </a:solidFill>
          <a:ln w="12700">
            <a:solidFill>
              <a:srgbClr val="0F2A5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0" y="576072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Dept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858000" y="5760720"/>
            <a:ext cx="5029200" cy="4114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49440" y="576072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AI &amp; Data Science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2560320" cy="29260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PROJECT OVERVIEW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0F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1143000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71600"/>
            <a:ext cx="356616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371600"/>
            <a:ext cx="3566160" cy="64008"/>
          </a:xfrm>
          <a:prstGeom prst="rect">
            <a:avLst/>
          </a:prstGeom>
          <a:solidFill>
            <a:srgbClr val="0F2A54"/>
          </a:solidFill>
          <a:ln w="12700">
            <a:solidFill>
              <a:srgbClr val="0F2A5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64592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🏥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48640" y="23774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2A54"/>
                </a:solidFill>
              </a:rPr>
              <a:t>The Problem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48640" y="2926080"/>
            <a:ext cx="3200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Healthcare fraud costs Medicare $100B+ annually through false claims, duplicate submissions, and diagnosis stuffing by fraudulent providers.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06240" y="1371600"/>
            <a:ext cx="356616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06240" y="1371600"/>
            <a:ext cx="3566160" cy="6400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06240" y="164592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🤖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389120" y="23774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D7377"/>
                </a:solidFill>
              </a:rPr>
              <a:t>Our Solution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389120" y="2926080"/>
            <a:ext cx="3200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Multimodal AI system using XGBoost + LightGBM + Random Forest ensemble trained on 700K+ real CMS claim records with 57 engineered features.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46720" y="1371600"/>
            <a:ext cx="356616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046720" y="1371600"/>
            <a:ext cx="3566160" cy="6400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0" y="164592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📊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8229600" y="23774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8A020"/>
                </a:solidFill>
              </a:rPr>
              <a:t>Key Achievement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229600" y="2926080"/>
            <a:ext cx="3200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AUC-ROC &gt; 0.90 with SHAP-based natural language explanations, risk tiering (CRITICAL/HIGH/MEDIUM/LOW) and OCR document scanning.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1064240" y="6492240"/>
            <a:ext cx="822960" cy="2743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064240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 / 11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2560320" cy="29260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PROBLEM STATEMENT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0F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 of Insurance Fraud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1143000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71600"/>
            <a:ext cx="530352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371600"/>
            <a:ext cx="5303520" cy="64008"/>
          </a:xfrm>
          <a:prstGeom prst="rect">
            <a:avLst/>
          </a:prstGeom>
          <a:solidFill>
            <a:srgbClr val="0F2A54"/>
          </a:solidFill>
          <a:ln w="12700">
            <a:solidFill>
              <a:srgbClr val="0F2A5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50876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54"/>
                </a:solidFill>
              </a:rPr>
              <a:t>Fraud Types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💰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97280" y="210312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</a:rPr>
              <a:t>Billing Inflation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2414016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Charging for services never rendered or at inflated costs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154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97280" y="315468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</a:rPr>
              <a:t>Duplicate Claims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97280" y="3465576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Submitting the same claim multiple times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4206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🏥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97280" y="420624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</a:rPr>
              <a:t>Diagnosis Stuffing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97280" y="4517136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Adding false conditions to inflate reimbursements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5257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🔗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97280" y="525780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</a:rPr>
              <a:t>Fraud Rings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97280" y="5568696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Coordinated schemes across doctors, hospitals, and patients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943600" y="1371600"/>
            <a:ext cx="585216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943600" y="1371600"/>
            <a:ext cx="585216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26480" y="15087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54"/>
                </a:solidFill>
              </a:rPr>
              <a:t>Limitations of Existing Systems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126480" y="2103120"/>
            <a:ext cx="5486400" cy="1005840"/>
          </a:xfrm>
          <a:prstGeom prst="rect">
            <a:avLst/>
          </a:prstGeom>
          <a:solidFill>
            <a:srgbClr val="0F2A54"/>
          </a:solidFill>
          <a:ln w="12700">
            <a:solidFill>
              <a:srgbClr val="0F2A5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26480" y="214884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8A020"/>
                </a:solidFill>
              </a:rPr>
              <a:t>$100 Billion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6126480" y="2651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6E4F0"/>
                </a:solidFill>
              </a:rPr>
              <a:t>Annual Medicare fraud losses (estimated)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126480" y="3291840"/>
            <a:ext cx="5486400" cy="91440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09360" y="3346704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</a:rPr>
              <a:t>❌  Pattern Blindness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309360" y="3730752"/>
            <a:ext cx="5212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Fixed rules miss evolving fraud patterns like rings and collusion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126480" y="4343400"/>
            <a:ext cx="5486400" cy="91440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09360" y="4398264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</a:rPr>
              <a:t>❌  No Document Intel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309360" y="4782312"/>
            <a:ext cx="5212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Cannot process actual claim documents — tabular data only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126480" y="5394960"/>
            <a:ext cx="5486400" cy="91440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09360" y="5449824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</a:rPr>
              <a:t>❌  Black-Box Output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309360" y="5833872"/>
            <a:ext cx="5212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No explanations for investigators who need to justify decisions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11064240" y="6492240"/>
            <a:ext cx="822960" cy="2743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1064240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 / 11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2A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2560320" cy="29260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System Architecture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4A1A6"/>
                </a:solidFill>
              </a:rPr>
              <a:t>5-Layer Pipeline — Raw Data to Actionable Fraud Decisions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554480"/>
            <a:ext cx="2103120" cy="4846320"/>
          </a:xfrm>
          <a:prstGeom prst="rect">
            <a:avLst/>
          </a:prstGeom>
          <a:solidFill>
            <a:srgbClr val="0D737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554480"/>
            <a:ext cx="2103120" cy="41148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55448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F2A54"/>
                </a:solidFill>
              </a:rPr>
              <a:t>LAYER 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20574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📂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57200" y="269748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Data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Ingestion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3520440"/>
            <a:ext cx="19202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4F0"/>
                </a:solidFill>
              </a:rPr>
              <a:t>8 CSV Files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6E4F0"/>
                </a:solidFill>
              </a:rPr>
              <a:t>700K+ Claims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6E4F0"/>
                </a:solidFill>
              </a:rPr>
              <a:t>5,410 Providers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468880" y="2971800"/>
            <a:ext cx="201168" cy="2286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670048" y="1554480"/>
            <a:ext cx="2103120" cy="4846320"/>
          </a:xfrm>
          <a:prstGeom prst="rect">
            <a:avLst/>
          </a:prstGeom>
          <a:solidFill>
            <a:srgbClr val="1565A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670048" y="1554480"/>
            <a:ext cx="2103120" cy="41148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70048" y="155448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F2A54"/>
                </a:solidFill>
              </a:rPr>
              <a:t>LAYER 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670048" y="20574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⚙️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2761488" y="269748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Preprocessing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&amp; Feature Eng.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761488" y="3520440"/>
            <a:ext cx="19202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4F0"/>
                </a:solidFill>
              </a:rPr>
              <a:t>SMOTE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6E4F0"/>
                </a:solidFill>
              </a:rPr>
              <a:t>57 Features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6E4F0"/>
                </a:solidFill>
              </a:rPr>
              <a:t>7 Groups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73168" y="2971800"/>
            <a:ext cx="201168" cy="2286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74336" y="1554480"/>
            <a:ext cx="2103120" cy="4846320"/>
          </a:xfrm>
          <a:prstGeom prst="rect">
            <a:avLst/>
          </a:prstGeom>
          <a:solidFill>
            <a:srgbClr val="0D737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974336" y="1554480"/>
            <a:ext cx="2103120" cy="41148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74336" y="155448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F2A54"/>
                </a:solidFill>
              </a:rPr>
              <a:t>LAYER 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974336" y="20574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🧠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5065776" y="269748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Model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Training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065776" y="3520440"/>
            <a:ext cx="19202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4F0"/>
                </a:solidFill>
              </a:rPr>
              <a:t>XGBoost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6E4F0"/>
                </a:solidFill>
              </a:rPr>
              <a:t>LightGBM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6E4F0"/>
                </a:solidFill>
              </a:rPr>
              <a:t>Random Forest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6E4F0"/>
                </a:solidFill>
              </a:rPr>
              <a:t>Isolation Forest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077456" y="2971800"/>
            <a:ext cx="201168" cy="2286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278624" y="1554480"/>
            <a:ext cx="2103120" cy="4846320"/>
          </a:xfrm>
          <a:prstGeom prst="rect">
            <a:avLst/>
          </a:prstGeom>
          <a:solidFill>
            <a:srgbClr val="1565A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278624" y="1554480"/>
            <a:ext cx="2103120" cy="41148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278624" y="155448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F2A54"/>
                </a:solidFill>
              </a:rPr>
              <a:t>LAYER 4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278624" y="20574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🔍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7370064" y="269748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Ensemble &amp;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Explainability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370064" y="3520440"/>
            <a:ext cx="19202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4F0"/>
                </a:solidFill>
              </a:rPr>
              <a:t>Weighted Voting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6E4F0"/>
                </a:solidFill>
              </a:rPr>
              <a:t>SHAP Values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6E4F0"/>
                </a:solidFill>
              </a:rPr>
              <a:t>Risk Tiering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6E4F0"/>
                </a:solidFill>
              </a:rPr>
              <a:t>PDF Reports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9381744" y="2971800"/>
            <a:ext cx="201168" cy="2286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582912" y="1554480"/>
            <a:ext cx="2103120" cy="4846320"/>
          </a:xfrm>
          <a:prstGeom prst="rect">
            <a:avLst/>
          </a:prstGeom>
          <a:solidFill>
            <a:srgbClr val="0D737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582912" y="1554480"/>
            <a:ext cx="2103120" cy="41148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582912" y="155448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F2A54"/>
                </a:solidFill>
              </a:rPr>
              <a:t>LAYER 5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9582912" y="20574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🚀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9674352" y="269748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Deployment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(Flask + OCR)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9674352" y="3520440"/>
            <a:ext cx="19202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4F0"/>
                </a:solidFill>
              </a:rPr>
              <a:t>Flask 3.0 API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6E4F0"/>
                </a:solidFill>
              </a:rPr>
              <a:t>4-Tab Web UI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6E4F0"/>
                </a:solidFill>
              </a:rPr>
              <a:t>OCR Scanner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6E4F0"/>
                </a:solidFill>
              </a:rPr>
              <a:t>Dashboard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65760" y="6537960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Data flows left → right through each layer. All layers are modular and independently testable.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11064240" y="6492240"/>
            <a:ext cx="822960" cy="2743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1064240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 / 11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2560320" cy="29260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WORKFLOW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0F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System Workflow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1143000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71600"/>
            <a:ext cx="2926080" cy="365760"/>
          </a:xfrm>
          <a:prstGeom prst="rect">
            <a:avLst/>
          </a:prstGeom>
          <a:solidFill>
            <a:srgbClr val="0F2A54"/>
          </a:solidFill>
          <a:ln w="12700">
            <a:solidFill>
              <a:srgbClr val="0F2A5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3716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PATH A: Manual Input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566160" y="1371600"/>
            <a:ext cx="2926080" cy="3657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66160" y="13716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PATH B: Document Upload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874520"/>
            <a:ext cx="14173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0F2A5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874520"/>
            <a:ext cx="347472" cy="347472"/>
          </a:xfrm>
          <a:prstGeom prst="rect">
            <a:avLst/>
          </a:prstGeom>
          <a:solidFill>
            <a:srgbClr val="0F2A54"/>
          </a:solidFill>
          <a:ln w="12700">
            <a:solidFill>
              <a:srgbClr val="0F2A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87452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1480" y="228600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A54"/>
                </a:solidFill>
              </a:rPr>
              <a:t>Claim Features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F2A54"/>
                </a:solidFill>
              </a:rPr>
              <a:t>Entered via UI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1480" y="2834640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Flask 4-tab form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783080" y="2514600"/>
            <a:ext cx="182880" cy="0"/>
          </a:xfrm>
          <a:prstGeom prst="line">
            <a:avLst/>
          </a:prstGeom>
          <a:noFill/>
          <a:ln w="25400">
            <a:solidFill>
              <a:srgbClr val="0F2A5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65960" y="1874520"/>
            <a:ext cx="14173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0F2A5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965960" y="1874520"/>
            <a:ext cx="347472" cy="347472"/>
          </a:xfrm>
          <a:prstGeom prst="rect">
            <a:avLst/>
          </a:prstGeom>
          <a:solidFill>
            <a:srgbClr val="0F2A54"/>
          </a:solidFill>
          <a:ln w="12700">
            <a:solidFill>
              <a:srgbClr val="0F2A5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65960" y="187452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011680" y="228600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A54"/>
                </a:solidFill>
              </a:rPr>
              <a:t>Feature Vector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F2A54"/>
                </a:solidFill>
              </a:rPr>
              <a:t>Constructed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011680" y="2834640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57 features applied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566160" y="1874520"/>
            <a:ext cx="14173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0D73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566160" y="1874520"/>
            <a:ext cx="347472" cy="3474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66160" y="187452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11880" y="228600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7377"/>
                </a:solidFill>
              </a:rPr>
              <a:t>PDF / Image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D7377"/>
                </a:solidFill>
              </a:rPr>
              <a:t>Uploaded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611880" y="2834640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EasyOCR + pdf2image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983480" y="2514600"/>
            <a:ext cx="182880" cy="0"/>
          </a:xfrm>
          <a:prstGeom prst="line">
            <a:avLst/>
          </a:prstGeom>
          <a:noFill/>
          <a:ln w="25400">
            <a:solidFill>
              <a:srgbClr val="0D737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166360" y="1874520"/>
            <a:ext cx="14173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0D73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166360" y="1874520"/>
            <a:ext cx="347472" cy="3474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66360" y="187452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212080" y="228600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7377"/>
                </a:solidFill>
              </a:rPr>
              <a:t>OCR Field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D7377"/>
                </a:solidFill>
              </a:rPr>
              <a:t>Extraction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212080" y="2834640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Regex parser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783080" y="3154680"/>
            <a:ext cx="0" cy="502920"/>
          </a:xfrm>
          <a:prstGeom prst="line">
            <a:avLst/>
          </a:prstGeom>
          <a:noFill/>
          <a:ln w="25400">
            <a:solidFill>
              <a:srgbClr val="0F2A5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983480" y="3154680"/>
            <a:ext cx="0" cy="502920"/>
          </a:xfrm>
          <a:prstGeom prst="line">
            <a:avLst/>
          </a:prstGeom>
          <a:noFill/>
          <a:ln w="25400">
            <a:solidFill>
              <a:srgbClr val="0D737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783080" y="3657600"/>
            <a:ext cx="3200400" cy="0"/>
          </a:xfrm>
          <a:prstGeom prst="line">
            <a:avLst/>
          </a:prstGeom>
          <a:noFill/>
          <a:ln w="31750">
            <a:solidFill>
              <a:srgbClr val="E8A02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383280" y="3657600"/>
            <a:ext cx="0" cy="320040"/>
          </a:xfrm>
          <a:prstGeom prst="line">
            <a:avLst/>
          </a:prstGeom>
          <a:noFill/>
          <a:ln w="31750">
            <a:solidFill>
              <a:srgbClr val="E8A02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194560" y="3383280"/>
            <a:ext cx="2377440" cy="34747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194560" y="338328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2A54"/>
                </a:solidFill>
              </a:rPr>
              <a:t>UNIFIED PREDICTION PIPELINE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65760" y="4114800"/>
            <a:ext cx="256032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A02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65760" y="4114800"/>
            <a:ext cx="2560320" cy="5486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38912" y="4206240"/>
            <a:ext cx="438912" cy="43891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38912" y="420624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54"/>
                </a:solidFill>
              </a:rPr>
              <a:t>5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960120" y="42519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54"/>
                </a:solidFill>
              </a:rPr>
              <a:t>Ensemble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F2A54"/>
                </a:solidFill>
              </a:rPr>
              <a:t>Voting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457200" y="480060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XGB×3 + LGBM×3 + RF×1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2926080" y="5120640"/>
            <a:ext cx="292608" cy="25603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218688" y="4114800"/>
            <a:ext cx="256032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A02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3218688" y="4114800"/>
            <a:ext cx="2560320" cy="5486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291840" y="4206240"/>
            <a:ext cx="438912" cy="43891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291840" y="420624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54"/>
                </a:solidFill>
              </a:rPr>
              <a:t>6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3813048" y="42519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54"/>
                </a:solidFill>
              </a:rPr>
              <a:t>SHAP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F2A54"/>
                </a:solidFill>
              </a:rPr>
              <a:t>Explanation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3310128" y="480060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TreeExplainer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Top 5 signals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5779008" y="5120640"/>
            <a:ext cx="292608" cy="25603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071616" y="4114800"/>
            <a:ext cx="256032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A02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6071616" y="4114800"/>
            <a:ext cx="2560320" cy="5486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144768" y="4206240"/>
            <a:ext cx="438912" cy="43891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144768" y="420624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54"/>
                </a:solidFill>
              </a:rPr>
              <a:t>7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6665976" y="42519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54"/>
                </a:solidFill>
              </a:rPr>
              <a:t>Risk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F2A54"/>
                </a:solidFill>
              </a:rPr>
              <a:t>Tiering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6163056" y="480060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CRITICAL/HIGH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MEDIUM/LOW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8631936" y="5120640"/>
            <a:ext cx="292608" cy="25603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924544" y="4114800"/>
            <a:ext cx="256032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A02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8924544" y="4114800"/>
            <a:ext cx="2560320" cy="5486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997696" y="4206240"/>
            <a:ext cx="438912" cy="43891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997696" y="420624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54"/>
                </a:solidFill>
              </a:rPr>
              <a:t>8</a:t>
            </a:r>
            <a:endParaRPr lang="en-US" sz="1400" dirty="0"/>
          </a:p>
        </p:txBody>
      </p:sp>
      <p:sp>
        <p:nvSpPr>
          <p:cNvPr id="63" name="Text 61"/>
          <p:cNvSpPr/>
          <p:nvPr/>
        </p:nvSpPr>
        <p:spPr>
          <a:xfrm>
            <a:off x="9518904" y="42519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54"/>
                </a:solidFill>
              </a:rPr>
              <a:t>Investigator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F2A54"/>
                </a:solidFill>
              </a:rPr>
              <a:t>Report</a:t>
            </a:r>
            <a:endParaRPr lang="en-US" sz="1300" dirty="0"/>
          </a:p>
        </p:txBody>
      </p:sp>
      <p:sp>
        <p:nvSpPr>
          <p:cNvPr id="64" name="Text 62"/>
          <p:cNvSpPr/>
          <p:nvPr/>
        </p:nvSpPr>
        <p:spPr>
          <a:xfrm>
            <a:off x="9015984" y="480060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PDF + Web UI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History log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11064240" y="6492240"/>
            <a:ext cx="822960" cy="2743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1064240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 / 11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2560320" cy="29260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DATASET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0F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 Medicare Dataset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1143000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71600"/>
            <a:ext cx="2011680" cy="1097280"/>
          </a:xfrm>
          <a:prstGeom prst="rect">
            <a:avLst/>
          </a:prstGeom>
          <a:solidFill>
            <a:srgbClr val="0F2A54"/>
          </a:solidFill>
          <a:ln w="12700">
            <a:solidFill>
              <a:srgbClr val="0F2A5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4630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A020"/>
                </a:solidFill>
              </a:rPr>
              <a:t>700K+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65760" y="201168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E4F0"/>
                </a:solidFill>
              </a:rPr>
              <a:t>Claim Records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51760" y="1371600"/>
            <a:ext cx="2011680" cy="1097280"/>
          </a:xfrm>
          <a:prstGeom prst="rect">
            <a:avLst/>
          </a:prstGeom>
          <a:solidFill>
            <a:srgbClr val="0F2A54"/>
          </a:solidFill>
          <a:ln w="12700">
            <a:solidFill>
              <a:srgbClr val="0F2A5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51760" y="14630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A020"/>
                </a:solidFill>
              </a:rPr>
              <a:t>123.66 MB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651760" y="201168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E4F0"/>
                </a:solidFill>
              </a:rPr>
              <a:t>Total Size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937760" y="1371600"/>
            <a:ext cx="2011680" cy="1097280"/>
          </a:xfrm>
          <a:prstGeom prst="rect">
            <a:avLst/>
          </a:prstGeom>
          <a:solidFill>
            <a:srgbClr val="0F2A54"/>
          </a:solidFill>
          <a:ln w="12700">
            <a:solidFill>
              <a:srgbClr val="0F2A5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37760" y="14630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A020"/>
                </a:solidFill>
              </a:rPr>
              <a:t>8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937760" y="201168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E4F0"/>
                </a:solidFill>
              </a:rPr>
              <a:t>CSV Files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223760" y="1371600"/>
            <a:ext cx="2011680" cy="1097280"/>
          </a:xfrm>
          <a:prstGeom prst="rect">
            <a:avLst/>
          </a:prstGeom>
          <a:solidFill>
            <a:srgbClr val="0F2A54"/>
          </a:solidFill>
          <a:ln w="12700">
            <a:solidFill>
              <a:srgbClr val="0F2A5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223760" y="14630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A020"/>
                </a:solidFill>
              </a:rPr>
              <a:t>5,410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223760" y="201168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E4F0"/>
                </a:solidFill>
              </a:rPr>
              <a:t>Labeled Providers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509760" y="1371600"/>
            <a:ext cx="2011680" cy="1097280"/>
          </a:xfrm>
          <a:prstGeom prst="rect">
            <a:avLst/>
          </a:prstGeom>
          <a:solidFill>
            <a:srgbClr val="0F2A54"/>
          </a:solidFill>
          <a:ln w="12700">
            <a:solidFill>
              <a:srgbClr val="0F2A5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509760" y="14630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A020"/>
                </a:solidFill>
              </a:rPr>
              <a:t>~10%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9509760" y="201168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E4F0"/>
                </a:solidFill>
              </a:rPr>
              <a:t>Fraud Rate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606040"/>
          <a:ext cx="1143000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371600"/>
                <a:gridCol w="4114800"/>
                <a:gridCol w="30175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File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5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Records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5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Key Columns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5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Role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5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Train.csv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5,410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Provider, PotentialFraud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Fraud labels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Train_Beneficiarydata.csv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138,556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DOB, Gender, Chronic conds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Patient profiles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Train_Inpatientdata.csv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40,474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Diagnosis codes, Admit/Discharge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Hospital billing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Train_Outpatientdata.csv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517,737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ClaimStartDt, Reimbursement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OPD claims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Test files (×4)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~1,908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Same schema as Train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Model evaluation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365760" y="56235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54"/>
                </a:solidFill>
              </a:rPr>
              <a:t>Data Challenges: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365760" y="6035040"/>
            <a:ext cx="2560320" cy="5486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65760" y="60350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Class Imbalance (~10%) → SMOTE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3218688" y="6035040"/>
            <a:ext cx="2560320" cy="5486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218688" y="60350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Missing Values → Median/Mode fill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6071616" y="6035040"/>
            <a:ext cx="2560320" cy="5486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071616" y="60350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Multi-table Join (4 CSVs)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8924544" y="6035040"/>
            <a:ext cx="2560320" cy="5486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924544" y="60350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High Cardinality (1000+ ICD codes)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11064240" y="6492240"/>
            <a:ext cx="822960" cy="2743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1064240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 / 11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2560320" cy="29260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FEATURE ENGINEERING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0F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 Features Across 7 Groups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1143000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3258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54"/>
                </a:solidFill>
              </a:rPr>
              <a:t>Feature Count by Group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Baseline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920240" y="1901952"/>
            <a:ext cx="3474720" cy="320040"/>
          </a:xfrm>
          <a:prstGeom prst="rect">
            <a:avLst/>
          </a:prstGeom>
          <a:solidFill>
            <a:srgbClr val="0F2A54"/>
          </a:solidFill>
          <a:ln w="12700">
            <a:solidFill>
              <a:srgbClr val="0F2A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0" y="182880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A54"/>
                </a:solidFill>
              </a:rPr>
              <a:t>15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4231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Ratio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920240" y="2496312"/>
            <a:ext cx="1853184" cy="3200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64864" y="242316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7377"/>
                </a:solidFill>
              </a:rPr>
              <a:t>8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30175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Risk Scores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920240" y="3090672"/>
            <a:ext cx="1389888" cy="320040"/>
          </a:xfrm>
          <a:prstGeom prst="rect">
            <a:avLst/>
          </a:prstGeom>
          <a:solidFill>
            <a:srgbClr val="1565A0"/>
          </a:solidFill>
          <a:ln w="12700">
            <a:solidFill>
              <a:srgbClr val="1565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01568" y="301752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A0"/>
                </a:solidFill>
              </a:rPr>
              <a:t>6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36118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Interaction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920240" y="3685032"/>
            <a:ext cx="1853184" cy="3200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64864" y="361188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7377"/>
                </a:solidFill>
              </a:rPr>
              <a:t>8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" y="42062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Z-Scores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920240" y="4279392"/>
            <a:ext cx="1621536" cy="320040"/>
          </a:xfrm>
          <a:prstGeom prst="rect">
            <a:avLst/>
          </a:prstGeom>
          <a:solidFill>
            <a:srgbClr val="0F2A54"/>
          </a:solidFill>
          <a:ln w="12700">
            <a:solidFill>
              <a:srgbClr val="0F2A5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33216" y="420624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A54"/>
                </a:solidFill>
              </a:rPr>
              <a:t>7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" y="48006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Anomaly Flags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920240" y="4873752"/>
            <a:ext cx="2084832" cy="32004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096512" y="480060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1A1A"/>
                </a:solidFill>
              </a:rPr>
              <a:t>9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65760" y="53949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Bin Features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920240" y="5468112"/>
            <a:ext cx="1389888" cy="32004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01568" y="539496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6B3C"/>
                </a:solidFill>
              </a:rPr>
              <a:t>6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760720" y="1371600"/>
            <a:ext cx="60350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760720" y="1371600"/>
            <a:ext cx="73152" cy="11887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0" y="1773936"/>
            <a:ext cx="5669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A54"/>
                </a:solidFill>
              </a:rPr>
              <a:t>57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5943600" y="2176272"/>
            <a:ext cx="5669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Total engineered features across all groups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760720" y="2715768"/>
            <a:ext cx="60350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760720" y="2715768"/>
            <a:ext cx="73152" cy="11887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43600" y="3118104"/>
            <a:ext cx="5669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A54"/>
                </a:solidFill>
              </a:rPr>
              <a:t>Volume × Reimb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5943600" y="3520440"/>
            <a:ext cx="5669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Strongest single fraud predictor (interaction)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760720" y="4059936"/>
            <a:ext cx="60350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760720" y="4059936"/>
            <a:ext cx="73152" cy="11887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943600" y="4462272"/>
            <a:ext cx="5669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A54"/>
                </a:solidFill>
              </a:rPr>
              <a:t>&gt;85%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5943600" y="4864608"/>
            <a:ext cx="5669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Fraud prob. for providers with 4+ anomaly flags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760720" y="5404104"/>
            <a:ext cx="60350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5760720" y="5404104"/>
            <a:ext cx="73152" cy="11887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43600" y="5806440"/>
            <a:ext cx="5669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A54"/>
                </a:solidFill>
              </a:rPr>
              <a:t>Freq. Encoding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5943600" y="6208776"/>
            <a:ext cx="5669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Used for 1,000+ ICD diagnosis codes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11064240" y="6492240"/>
            <a:ext cx="822960" cy="2743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1064240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7 / 11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2560320" cy="29260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MODEL TRAINING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0F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Model Architecture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1143000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71600"/>
            <a:ext cx="20116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371600"/>
            <a:ext cx="2011680" cy="6400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087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</a:rPr>
              <a:t>Logistic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</a:rPr>
              <a:t>Regression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19456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class_weight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=balanced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2926080"/>
            <a:ext cx="1463040" cy="34747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92608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Baseline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651760" y="1371600"/>
            <a:ext cx="20116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651760" y="1371600"/>
            <a:ext cx="2011680" cy="6400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0" y="15087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7377"/>
                </a:solidFill>
              </a:rPr>
              <a:t>Random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D7377"/>
                </a:solidFill>
              </a:rPr>
              <a:t>Forest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743200" y="219456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300 trees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max_depth=12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26080" y="2926080"/>
            <a:ext cx="1463040" cy="3474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26080" y="292608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Ensemble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937760" y="1371600"/>
            <a:ext cx="20116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937760" y="1371600"/>
            <a:ext cx="2011680" cy="64008"/>
          </a:xfrm>
          <a:prstGeom prst="rect">
            <a:avLst/>
          </a:prstGeom>
          <a:solidFill>
            <a:srgbClr val="0F2A54"/>
          </a:solidFill>
          <a:ln w="12700">
            <a:solidFill>
              <a:srgbClr val="0F2A5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0" y="15087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54"/>
                </a:solidFill>
              </a:rPr>
              <a:t>XGBoost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29200" y="219456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Optuna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50 Trials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3-fold CV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212080" y="2926080"/>
            <a:ext cx="1463040" cy="347472"/>
          </a:xfrm>
          <a:prstGeom prst="rect">
            <a:avLst/>
          </a:prstGeom>
          <a:solidFill>
            <a:srgbClr val="0F2A54"/>
          </a:solidFill>
          <a:ln w="12700">
            <a:solidFill>
              <a:srgbClr val="0F2A5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12080" y="292608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Ensemble ×3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223760" y="1371600"/>
            <a:ext cx="20116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223760" y="1371600"/>
            <a:ext cx="2011680" cy="64008"/>
          </a:xfrm>
          <a:prstGeom prst="rect">
            <a:avLst/>
          </a:prstGeom>
          <a:solidFill>
            <a:srgbClr val="0F2A54"/>
          </a:solidFill>
          <a:ln w="12700">
            <a:solidFill>
              <a:srgbClr val="0F2A5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0" y="15087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54"/>
                </a:solidFill>
              </a:rPr>
              <a:t>LightGBM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315200" y="219456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Optuna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50 Trials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Early Stop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498080" y="2926080"/>
            <a:ext cx="1463040" cy="347472"/>
          </a:xfrm>
          <a:prstGeom prst="rect">
            <a:avLst/>
          </a:prstGeom>
          <a:solidFill>
            <a:srgbClr val="0F2A54"/>
          </a:solidFill>
          <a:ln w="12700">
            <a:solidFill>
              <a:srgbClr val="0F2A5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0" y="292608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Ensemble ×3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9509760" y="1371600"/>
            <a:ext cx="20116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9509760" y="1371600"/>
            <a:ext cx="2011680" cy="64008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601200" y="15087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6B3C"/>
                </a:solidFill>
              </a:rPr>
              <a:t>Isolation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A6B3C"/>
                </a:solidFill>
              </a:rPr>
              <a:t>Forest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601200" y="219456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Unsupervised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anomalies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9784080" y="2926080"/>
            <a:ext cx="1463040" cy="34747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784080" y="292608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Auxiliary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65760" y="3794760"/>
            <a:ext cx="11430000" cy="1463040"/>
          </a:xfrm>
          <a:prstGeom prst="rect">
            <a:avLst/>
          </a:prstGeom>
          <a:solidFill>
            <a:srgbClr val="0F2A54"/>
          </a:solidFill>
          <a:ln w="12700">
            <a:solidFill>
              <a:srgbClr val="0F2A5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548640" y="3886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spc="100" kern="0" dirty="0">
                <a:solidFill>
                  <a:srgbClr val="E8A020"/>
                </a:solidFill>
              </a:rPr>
              <a:t>WEIGHTED SOFT VOTING ENSEMBLE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548640" y="438912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XGBoost × 3  +  LightGBM × 3  +  Random Forest × 1  ·  Threshold tuned for max F1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48640" y="475488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4A1A6"/>
                </a:solidFill>
              </a:rPr>
              <a:t>Optuna Bayesian Optimization: 50 trials × 3-fold CV on XGBoost &amp; LightGBM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8503920" y="3840480"/>
            <a:ext cx="3017520" cy="132588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503920" y="38862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A54"/>
                </a:solidFill>
              </a:rPr>
              <a:t>AUC-ROC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8503920" y="420624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F2A54"/>
                </a:solidFill>
              </a:rPr>
              <a:t>&gt; 0.90</a:t>
            </a:r>
            <a:endParaRPr lang="en-US" sz="3400" dirty="0"/>
          </a:p>
        </p:txBody>
      </p:sp>
      <p:sp>
        <p:nvSpPr>
          <p:cNvPr id="43" name="Text 41"/>
          <p:cNvSpPr/>
          <p:nvPr/>
        </p:nvSpPr>
        <p:spPr>
          <a:xfrm>
            <a:off x="8503920" y="4800600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2A54"/>
                </a:solidFill>
              </a:rPr>
              <a:t>F1 &gt; 0.82  ·  Precision &gt; 0.80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65760" y="544068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54"/>
                </a:solidFill>
              </a:rPr>
              <a:t>Key EDA Findings: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365760" y="5852160"/>
            <a:ext cx="25603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365760" y="5852160"/>
            <a:ext cx="54864" cy="6858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2920" y="589788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Fraud providers bill 3–5× more per claim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218688" y="5852160"/>
            <a:ext cx="25603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3218688" y="5852160"/>
            <a:ext cx="54864" cy="6858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355848" y="589788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Avg hospital stay 40+ days vs 5 for legit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071616" y="5852160"/>
            <a:ext cx="25603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6071616" y="5852160"/>
            <a:ext cx="54864" cy="6858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208776" y="589788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Fraud providers use 2× more unique physicians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8924544" y="5852160"/>
            <a:ext cx="25603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8924544" y="5852160"/>
            <a:ext cx="54864" cy="6858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061704" y="589788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Providers with 4+ anomaly flags → &gt;85% fraud prob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11064240" y="6492240"/>
            <a:ext cx="822960" cy="2743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1064240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8 / 11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2560320" cy="29260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EXPLAINABILITY &amp; OCR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0F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Explainability &amp; Document Scanner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1143000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71600"/>
            <a:ext cx="557784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371600"/>
            <a:ext cx="5577840" cy="64008"/>
          </a:xfrm>
          <a:prstGeom prst="rect">
            <a:avLst/>
          </a:prstGeom>
          <a:solidFill>
            <a:srgbClr val="0F2A54"/>
          </a:solidFill>
          <a:ln w="12700">
            <a:solidFill>
              <a:srgbClr val="0F2A5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50876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54"/>
                </a:solidFill>
              </a:rPr>
              <a:t>🔍  SHAP Explainability (M5)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148840"/>
            <a:ext cx="5212080" cy="914400"/>
          </a:xfrm>
          <a:prstGeom prst="rect">
            <a:avLst/>
          </a:prstGeom>
          <a:solidFill>
            <a:srgbClr val="F4F7FB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148840"/>
            <a:ext cx="64008" cy="914400"/>
          </a:xfrm>
          <a:prstGeom prst="rect">
            <a:avLst/>
          </a:prstGeom>
          <a:solidFill>
            <a:srgbClr val="0F2A54"/>
          </a:solidFill>
          <a:ln w="12700">
            <a:solidFill>
              <a:srgbClr val="0F2A5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4944" y="2212848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54"/>
                </a:solidFill>
              </a:rPr>
              <a:t>TreeExplainer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94944" y="2542032"/>
            <a:ext cx="4937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Computes exact SHAP values for all validation providers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200400"/>
            <a:ext cx="5212080" cy="914400"/>
          </a:xfrm>
          <a:prstGeom prst="rect">
            <a:avLst/>
          </a:prstGeom>
          <a:solidFill>
            <a:srgbClr val="F4F7FB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200400"/>
            <a:ext cx="64008" cy="914400"/>
          </a:xfrm>
          <a:prstGeom prst="rect">
            <a:avLst/>
          </a:prstGeom>
          <a:solidFill>
            <a:srgbClr val="0F2A54"/>
          </a:solidFill>
          <a:ln w="12700">
            <a:solidFill>
              <a:srgbClr val="0F2A5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4944" y="3264408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54"/>
                </a:solidFill>
              </a:rPr>
              <a:t>Top 5 Reasons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94944" y="3593592"/>
            <a:ext cx="4937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Positive SHAP features → plain-English fraud signals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251960"/>
            <a:ext cx="5212080" cy="914400"/>
          </a:xfrm>
          <a:prstGeom prst="rect">
            <a:avLst/>
          </a:prstGeom>
          <a:solidFill>
            <a:srgbClr val="F4F7FB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4251960"/>
            <a:ext cx="64008" cy="914400"/>
          </a:xfrm>
          <a:prstGeom prst="rect">
            <a:avLst/>
          </a:prstGeom>
          <a:solidFill>
            <a:srgbClr val="0F2A54"/>
          </a:solidFill>
          <a:ln w="12700">
            <a:solidFill>
              <a:srgbClr val="0F2A5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4944" y="4315968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54"/>
                </a:solidFill>
              </a:rPr>
              <a:t>Risk Tiering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94944" y="4645152"/>
            <a:ext cx="4937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CRITICAL (≥0.80) / HIGH (≥0.60) / MEDIUM (≥0.40) / LOW (&lt;0.40)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5303520"/>
            <a:ext cx="5212080" cy="914400"/>
          </a:xfrm>
          <a:prstGeom prst="rect">
            <a:avLst/>
          </a:prstGeom>
          <a:solidFill>
            <a:srgbClr val="F4F7FB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5303520"/>
            <a:ext cx="64008" cy="914400"/>
          </a:xfrm>
          <a:prstGeom prst="rect">
            <a:avLst/>
          </a:prstGeom>
          <a:solidFill>
            <a:srgbClr val="0F2A54"/>
          </a:solidFill>
          <a:ln w="12700">
            <a:solidFill>
              <a:srgbClr val="0F2A5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4944" y="5367528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54"/>
                </a:solidFill>
              </a:rPr>
              <a:t>PDF Reports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94944" y="5696712"/>
            <a:ext cx="4937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Auto-generated investigator reports via ReportLab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17920" y="1371600"/>
            <a:ext cx="557784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17920" y="1371600"/>
            <a:ext cx="5577840" cy="6400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0" y="150876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7377"/>
                </a:solidFill>
              </a:rPr>
              <a:t>📄  Document Scanner (M6)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400800" y="2103120"/>
            <a:ext cx="384048" cy="38404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0" y="21031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①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858000" y="210312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377"/>
                </a:solidFill>
              </a:rPr>
              <a:t>Upload PDF / Image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858000" y="2359152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EasyOCR + pdf2image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400800" y="2816352"/>
            <a:ext cx="384048" cy="38404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0" y="28163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②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858000" y="2816352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377"/>
                </a:solidFill>
              </a:rPr>
              <a:t>OCR Field Extraction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858000" y="3072384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Text + bounding boxes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400800" y="3529584"/>
            <a:ext cx="384048" cy="38404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0" y="352958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③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858000" y="3529584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377"/>
                </a:solidFill>
              </a:rPr>
              <a:t>Regex Field Mapping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858000" y="3785616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Amount, stay days, diagnosis count, age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400800" y="4242816"/>
            <a:ext cx="384048" cy="38404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00800" y="424281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④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858000" y="4242816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377"/>
                </a:solidFill>
              </a:rPr>
              <a:t>Feature Construction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858000" y="4498848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Mapped to 57-feature vector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400800" y="4956048"/>
            <a:ext cx="384048" cy="38404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0800" y="49560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⑤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858000" y="4956048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377"/>
                </a:solidFill>
              </a:rPr>
              <a:t>Ensemble Scoring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858000" y="521208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Risk tier + SHAP explanation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400800" y="5669280"/>
            <a:ext cx="384048" cy="38404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00800" y="56692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⑥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6858000" y="566928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377"/>
                </a:solidFill>
              </a:rPr>
              <a:t>Document Overlay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6858000" y="5925312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Red/yellow/green on original doc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11064240" y="6492240"/>
            <a:ext cx="822960" cy="2743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1064240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9 / 11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2560320" cy="29260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TOOLS &amp; RESULTS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0F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 &amp; Performance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1143000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71600"/>
            <a:ext cx="26060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0D73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371600"/>
            <a:ext cx="64008" cy="7315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1732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Language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171907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</a:rPr>
              <a:t>Python 3.10+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1371600"/>
            <a:ext cx="26060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0F2A5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371600"/>
            <a:ext cx="64008" cy="731520"/>
          </a:xfrm>
          <a:prstGeom prst="rect">
            <a:avLst/>
          </a:prstGeom>
          <a:solidFill>
            <a:srgbClr val="0F2A54"/>
          </a:solidFill>
          <a:ln w="12700">
            <a:solidFill>
              <a:srgbClr val="0F2A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141732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ML Models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383280" y="171907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</a:rPr>
              <a:t>XGBoost · LightGBM · Scikit-learn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212848"/>
            <a:ext cx="26060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0D73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212848"/>
            <a:ext cx="64008" cy="7315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25856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Hyperparameter Tuning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2920" y="25603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</a:rPr>
              <a:t>Optuna (50 Bayesian trials)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46120" y="2212848"/>
            <a:ext cx="26060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0F2A5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46120" y="2212848"/>
            <a:ext cx="64008" cy="731520"/>
          </a:xfrm>
          <a:prstGeom prst="rect">
            <a:avLst/>
          </a:prstGeom>
          <a:solidFill>
            <a:srgbClr val="0F2A54"/>
          </a:solidFill>
          <a:ln w="12700">
            <a:solidFill>
              <a:srgbClr val="0F2A5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0" y="225856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Class Balancing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383280" y="25603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</a:rPr>
              <a:t>imbalanced-learn (SMOTE)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3054096"/>
            <a:ext cx="26060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0D73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3054096"/>
            <a:ext cx="64008" cy="7315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09981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Explainability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02920" y="340156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</a:rPr>
              <a:t>SHAP TreeExplainer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46120" y="3054096"/>
            <a:ext cx="26060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0F2A5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46120" y="3054096"/>
            <a:ext cx="64008" cy="731520"/>
          </a:xfrm>
          <a:prstGeom prst="rect">
            <a:avLst/>
          </a:prstGeom>
          <a:solidFill>
            <a:srgbClr val="0F2A54"/>
          </a:solidFill>
          <a:ln w="12700">
            <a:solidFill>
              <a:srgbClr val="0F2A5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83280" y="309981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OCR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383280" y="340156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</a:rPr>
              <a:t>EasyOCR · pdf2image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65760" y="3895344"/>
            <a:ext cx="26060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0D73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65760" y="3895344"/>
            <a:ext cx="64008" cy="7315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3941064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Web Framework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02920" y="424281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</a:rPr>
              <a:t>Flask 3.0 + HTML/JS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246120" y="3895344"/>
            <a:ext cx="26060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0F2A5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246120" y="3895344"/>
            <a:ext cx="64008" cy="731520"/>
          </a:xfrm>
          <a:prstGeom prst="rect">
            <a:avLst/>
          </a:prstGeom>
          <a:solidFill>
            <a:srgbClr val="0F2A54"/>
          </a:solidFill>
          <a:ln w="12700">
            <a:solidFill>
              <a:srgbClr val="0F2A5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83280" y="3941064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Report Generation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383280" y="424281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</a:rPr>
              <a:t>ReportLab PDF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217920" y="1371600"/>
            <a:ext cx="557784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217920" y="1371600"/>
            <a:ext cx="5577840" cy="6400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0800" y="150876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54"/>
                </a:solidFill>
              </a:rPr>
              <a:t>📈  Model Performance (Ensemble)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6400800" y="22402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AUC-ROC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8229600" y="2331720"/>
            <a:ext cx="2880360" cy="29260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1201400" y="224028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377"/>
                </a:solidFill>
              </a:rPr>
              <a:t>&gt; 0.90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400800" y="308152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F1 Score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8229600" y="3172968"/>
            <a:ext cx="2624328" cy="292608"/>
          </a:xfrm>
          <a:prstGeom prst="rect">
            <a:avLst/>
          </a:prstGeom>
          <a:solidFill>
            <a:srgbClr val="0F2A54"/>
          </a:solidFill>
          <a:ln w="12700">
            <a:solidFill>
              <a:srgbClr val="0F2A5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945368" y="3081528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54"/>
                </a:solidFill>
              </a:rPr>
              <a:t>&gt; 0.82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400800" y="3922776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Precision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8229600" y="4014216"/>
            <a:ext cx="2560320" cy="29260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0881360" y="3922776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377"/>
                </a:solidFill>
              </a:rPr>
              <a:t>&gt; 0.80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6400800" y="4764024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Recall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8229600" y="4855464"/>
            <a:ext cx="2496312" cy="292608"/>
          </a:xfrm>
          <a:prstGeom prst="rect">
            <a:avLst/>
          </a:prstGeom>
          <a:solidFill>
            <a:srgbClr val="0F2A54"/>
          </a:solidFill>
          <a:ln w="12700">
            <a:solidFill>
              <a:srgbClr val="0F2A5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817352" y="4764024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54"/>
                </a:solidFill>
              </a:rPr>
              <a:t>&gt; 0.78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6400800" y="560527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Accuracy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8229600" y="5696712"/>
            <a:ext cx="2720340" cy="29260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1041380" y="5605272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377"/>
                </a:solidFill>
              </a:rPr>
              <a:t>&gt; 0.85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11064240" y="6492240"/>
            <a:ext cx="822960" cy="2743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1064240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10 / 11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2A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Team Members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5212080" cy="457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80160"/>
            <a:ext cx="5212080" cy="1051560"/>
          </a:xfrm>
          <a:prstGeom prst="rect">
            <a:avLst/>
          </a:prstGeom>
          <a:solidFill>
            <a:srgbClr val="1E3A5F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80160"/>
            <a:ext cx="73152" cy="105156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53312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[Leader Name]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700784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A1A6"/>
                </a:solidFill>
              </a:rPr>
              <a:t>ML Training, Feature Engineering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993392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@username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468880"/>
            <a:ext cx="5212080" cy="1051560"/>
          </a:xfrm>
          <a:prstGeom prst="rect">
            <a:avLst/>
          </a:prstGeom>
          <a:solidFill>
            <a:srgbClr val="1E3A5F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468880"/>
            <a:ext cx="73152" cy="105156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542032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[Member 2]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2889504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A1A6"/>
                </a:solidFill>
              </a:rPr>
              <a:t>Data Preprocessing, EDA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182112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@username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657600"/>
            <a:ext cx="5212080" cy="1051560"/>
          </a:xfrm>
          <a:prstGeom prst="rect">
            <a:avLst/>
          </a:prstGeom>
          <a:solidFill>
            <a:srgbClr val="1E3A5F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657600"/>
            <a:ext cx="73152" cy="105156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730752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[Member 3]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4078224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A1A6"/>
                </a:solidFill>
              </a:rPr>
              <a:t>Flask Deployment, UI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4370832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@username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4846320"/>
            <a:ext cx="5212080" cy="1051560"/>
          </a:xfrm>
          <a:prstGeom prst="rect">
            <a:avLst/>
          </a:prstGeom>
          <a:solidFill>
            <a:srgbClr val="1E3A5F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4846320"/>
            <a:ext cx="73152" cy="105156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4919472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[Member 4]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" y="5266944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A1A6"/>
                </a:solidFill>
              </a:rPr>
              <a:t>Documentation, Report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5559552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@username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6217920"/>
            <a:ext cx="5212080" cy="4572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621792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Dept: AI &amp; Data Science  ·  AIML-B 2026  ·  [Your College]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126480" y="457200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References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6126480" y="1051560"/>
            <a:ext cx="5760720" cy="45720"/>
          </a:xfrm>
          <a:prstGeom prst="rect">
            <a:avLst/>
          </a:prstGeom>
          <a:solidFill>
            <a:srgbClr val="14A1A6"/>
          </a:solidFill>
          <a:ln w="12700">
            <a:solidFill>
              <a:srgbClr val="14A1A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26480" y="1325880"/>
            <a:ext cx="5760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6E4F0"/>
                </a:solidFill>
              </a:rPr>
              <a:t>[1] Bauder &amp; Khoshgoftaar (2018). Medicare fraud detection using ML. IEEE ICMLA, pp. 712–719.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126480" y="1993392"/>
            <a:ext cx="5760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6E4F0"/>
                </a:solidFill>
              </a:rPr>
              <a:t>[2] Johnson &amp; Khoshgoftaar (2019). Medicare fraud detection using NNs. Journal of Big Data, 6(1).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126480" y="2660904"/>
            <a:ext cx="5760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6E4F0"/>
                </a:solidFill>
              </a:rPr>
              <a:t>[3] Lundberg &amp; Lee (2017). Unified approach to interpreting model predictions (SHAP). NeurIPS 2017.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126480" y="3328416"/>
            <a:ext cx="5760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6E4F0"/>
                </a:solidFill>
              </a:rPr>
              <a:t>[4] Pourhabibi et al. (2020). Fraud detection: Graph-based anomaly detection. DSS, 133.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126480" y="3995928"/>
            <a:ext cx="5760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6E4F0"/>
                </a:solidFill>
              </a:rPr>
              <a:t>[5] Huang et al. (2022). LayoutLMv3: Pre-training for Document AI. ACM Multimedia 2022.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126480" y="4663440"/>
            <a:ext cx="5760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6E4F0"/>
                </a:solidFill>
              </a:rPr>
              <a:t>[6] CMS Medicare Dataset — Kaggle: rohitrox/healthcare-provider-fraud-detection-analysis.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126480" y="6035040"/>
            <a:ext cx="5760720" cy="6858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26480" y="6035040"/>
            <a:ext cx="5760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A54"/>
                </a:solidFill>
              </a:rPr>
              <a:t>Multimodal Insurance Fraud Detection System  ·  AIML-B 2026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11064240" y="6492240"/>
            <a:ext cx="822960" cy="2743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1064240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11 / 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Multimodal Insurance Fraud Detection System</dc:title>
  <dc:subject>PptxGenJS Presentation</dc:subject>
  <dc:creator>PptxGenJS</dc:creator>
  <cp:lastModifiedBy>PptxGenJS</cp:lastModifiedBy>
  <cp:revision>1</cp:revision>
  <dcterms:created xsi:type="dcterms:W3CDTF">2026-04-13T11:54:43Z</dcterms:created>
  <dcterms:modified xsi:type="dcterms:W3CDTF">2026-04-13T11:54:43Z</dcterms:modified>
</cp:coreProperties>
</file>